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9" r:id="rId7"/>
    <p:sldId id="268" r:id="rId8"/>
    <p:sldId id="260" r:id="rId9"/>
    <p:sldId id="263" r:id="rId10"/>
    <p:sldId id="264" r:id="rId11"/>
    <p:sldId id="262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6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977DC-A804-4846-A676-4C0C271D495B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7D610-AF37-4107-9506-DD9EB36C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98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958AE-6D76-42E0-B001-982985E355B0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15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3A2D-91ED-45BE-9B64-79F7E2B6F586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41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EB264-9197-4DDF-9692-C32AC5AB601E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31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8830C-A031-48EB-81FB-5320D61624D4}" type="datetime1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82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70D3-4307-4FC2-9E6E-5EF69C953C59}" type="datetime1">
              <a:rPr lang="ru-RU" smtClean="0"/>
              <a:t>08.02.2026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26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C8-BFD7-428A-BE4E-EA277722DCB3}" type="datetime1">
              <a:rPr lang="ru-RU" smtClean="0"/>
              <a:t>08.02.2026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935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7865-9ADB-44BB-8784-5FB47E90843F}" type="datetime1">
              <a:rPr lang="ru-RU" smtClean="0"/>
              <a:t>08.02.2026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88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839D-0B09-425A-A558-DA5318203D94}" type="datetime1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7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B452-AD84-4BB6-888D-C5182C56D827}" type="datetime1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32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042B-3297-4147-9485-CBF996869AD7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01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A10F5-6864-46A2-9B20-A0E88FF3A5B6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9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E30D5-608B-47CB-A777-7B534A73876B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32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40FCA-7188-46B8-B1FF-1351294D4730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8079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FED0-5B10-45E4-88C0-F77A2B867D8D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931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4D06-3B40-4E43-807A-AF5A06AA8D65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887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ABBD-52DA-4A3A-976A-91EC2182E984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77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68B93-E759-45C6-9EF4-59F595D219B9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ооо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560858A-F4D0-4F96-B37C-F09D6FF128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431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B375A-B7AA-4FF4-BBE1-8223A7FFA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Sciense Studio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02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746158" y="319596"/>
            <a:ext cx="6711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Назначение программы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C31A6-AE14-4977-B052-BCB74A40DAF1}"/>
              </a:ext>
            </a:extLst>
          </p:cNvPr>
          <p:cNvSpPr txBox="1"/>
          <p:nvPr/>
        </p:nvSpPr>
        <p:spPr>
          <a:xfrm>
            <a:off x="874450" y="1083449"/>
            <a:ext cx="8695677" cy="545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Программа предназначена для проведения научных расчётов, моделирования </a:t>
            </a:r>
            <a:br>
              <a:rPr lang="ru-RU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 выполнения преобразования данных. Будут реализованы библиотеки: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Математических вычислений;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СЛАУ_матрицы(+</a:t>
            </a:r>
            <a:r>
              <a:rPr lang="en-US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GF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интегралов, производных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рафовые задачи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Аппроксимация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(</a:t>
            </a:r>
            <a:r>
              <a:rPr lang="en-US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N-body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Статистики;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Критерии согласия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Графики, визуализации 3</a:t>
            </a:r>
            <a:r>
              <a:rPr lang="en-US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 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моделей;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теганографии, криптографии;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Проверка на случайность.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Стего внедрение/чтение/коды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ифрование/ЭЦП/ согласование ключей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Машинного обучения;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одирования информации.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1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Коды сжатия, -помехоустойчивые, -корректирующие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99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746158" y="319596"/>
            <a:ext cx="6711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Архитектура приложения</a:t>
            </a:r>
          </a:p>
        </p:txBody>
      </p:sp>
      <p:grpSp>
        <p:nvGrpSpPr>
          <p:cNvPr id="4" name="Полотно 1">
            <a:extLst>
              <a:ext uri="{FF2B5EF4-FFF2-40B4-BE49-F238E27FC236}">
                <a16:creationId xmlns:a16="http://schemas.microsoft.com/office/drawing/2014/main" id="{12A96767-45E8-46EE-BADB-6CADD6AA2B26}"/>
              </a:ext>
            </a:extLst>
          </p:cNvPr>
          <p:cNvGrpSpPr/>
          <p:nvPr/>
        </p:nvGrpSpPr>
        <p:grpSpPr>
          <a:xfrm>
            <a:off x="1818586" y="1533642"/>
            <a:ext cx="6861434" cy="2597279"/>
            <a:chOff x="0" y="0"/>
            <a:chExt cx="3732530" cy="126619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4B1B6B4-C0BD-4A7B-B7C3-C53B29DCCBA0}"/>
                </a:ext>
              </a:extLst>
            </p:cNvPr>
            <p:cNvSpPr/>
            <p:nvPr/>
          </p:nvSpPr>
          <p:spPr>
            <a:xfrm>
              <a:off x="0" y="0"/>
              <a:ext cx="3732530" cy="1266190"/>
            </a:xfrm>
            <a:prstGeom prst="rect">
              <a:avLst/>
            </a:prstGeom>
            <a:solidFill>
              <a:prstClr val="white"/>
            </a:solidFill>
          </p:spPr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20CEB3D-A9D1-4356-BD27-AA58C3B07703}"/>
                </a:ext>
              </a:extLst>
            </p:cNvPr>
            <p:cNvSpPr/>
            <p:nvPr/>
          </p:nvSpPr>
          <p:spPr>
            <a:xfrm>
              <a:off x="1089205" y="171095"/>
              <a:ext cx="741054" cy="3120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>
                  <a:solidFill>
                    <a:schemeClr val="tx1"/>
                  </a:solidFill>
                </a:rPr>
                <a:t>С</a:t>
              </a:r>
              <a:r>
                <a:rPr lang="en-US" sz="2800">
                  <a:solidFill>
                    <a:schemeClr val="tx1"/>
                  </a:solidFill>
                </a:rPr>
                <a:t>ore</a:t>
              </a:r>
              <a:endParaRPr lang="ru-RU" sz="2800">
                <a:solidFill>
                  <a:schemeClr val="tx1"/>
                </a:solidFill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5DE9098-41B6-44E2-92F9-6DA3CE5FDA63}"/>
                </a:ext>
              </a:extLst>
            </p:cNvPr>
            <p:cNvSpPr/>
            <p:nvPr/>
          </p:nvSpPr>
          <p:spPr>
            <a:xfrm>
              <a:off x="2818331" y="6416"/>
              <a:ext cx="879731" cy="3120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moduleA.dll</a:t>
              </a:r>
              <a:endParaRPr lang="ru-RU" sz="2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BB31BBA-2728-4971-9070-5BD9659FF1A2}"/>
                </a:ext>
              </a:extLst>
            </p:cNvPr>
            <p:cNvSpPr/>
            <p:nvPr/>
          </p:nvSpPr>
          <p:spPr>
            <a:xfrm>
              <a:off x="2818331" y="377097"/>
              <a:ext cx="879475" cy="3117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moduleB.dll</a:t>
              </a:r>
              <a:endParaRPr lang="ru-RU" sz="28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Соединитель: уступ 10">
              <a:extLst>
                <a:ext uri="{FF2B5EF4-FFF2-40B4-BE49-F238E27FC236}">
                  <a16:creationId xmlns:a16="http://schemas.microsoft.com/office/drawing/2014/main" id="{892779EB-D687-4464-9FF5-BBA23B7C5A1F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1835383" y="162428"/>
              <a:ext cx="982948" cy="107334"/>
            </a:xfrm>
            <a:prstGeom prst="bentConnector3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Соединитель: уступ 11">
              <a:extLst>
                <a:ext uri="{FF2B5EF4-FFF2-40B4-BE49-F238E27FC236}">
                  <a16:creationId xmlns:a16="http://schemas.microsoft.com/office/drawing/2014/main" id="{5D64AF11-C283-4BA8-BA38-B23A7D7E5AC3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1835383" y="377096"/>
              <a:ext cx="982948" cy="155893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91419C2-0FC3-479C-BFF4-9768F327C27C}"/>
                </a:ext>
              </a:extLst>
            </p:cNvPr>
            <p:cNvSpPr/>
            <p:nvPr/>
          </p:nvSpPr>
          <p:spPr>
            <a:xfrm>
              <a:off x="1089206" y="902710"/>
              <a:ext cx="741054" cy="3120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>
                  <a:solidFill>
                    <a:srgbClr val="000000"/>
                  </a:solidFill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settings</a:t>
              </a:r>
              <a:endParaRPr lang="ru-RU" sz="24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5B1CB912-B21D-4CA2-9544-0FFDAC8672B0}"/>
                </a:ext>
              </a:extLst>
            </p:cNvPr>
            <p:cNvCxnSpPr>
              <a:stCxn id="8" idx="2"/>
              <a:endCxn id="13" idx="0"/>
            </p:cNvCxnSpPr>
            <p:nvPr/>
          </p:nvCxnSpPr>
          <p:spPr>
            <a:xfrm>
              <a:off x="1459732" y="483118"/>
              <a:ext cx="1" cy="419592"/>
            </a:xfrm>
            <a:prstGeom prst="straightConnector1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12B0B2F-2372-4397-B079-B99D0514DBD7}"/>
                </a:ext>
              </a:extLst>
            </p:cNvPr>
            <p:cNvSpPr/>
            <p:nvPr/>
          </p:nvSpPr>
          <p:spPr>
            <a:xfrm>
              <a:off x="900" y="171095"/>
              <a:ext cx="741054" cy="3120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GUI</a:t>
              </a:r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166B2CA5-CD5E-45A9-B46A-6CC91A1DDF5D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741770" y="327107"/>
              <a:ext cx="347210" cy="0"/>
            </a:xfrm>
            <a:prstGeom prst="straightConnector1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Улыбающееся лицо 16">
              <a:extLst>
                <a:ext uri="{FF2B5EF4-FFF2-40B4-BE49-F238E27FC236}">
                  <a16:creationId xmlns:a16="http://schemas.microsoft.com/office/drawing/2014/main" id="{C5C2B28A-2188-480C-AC43-DDC2952ABB78}"/>
                </a:ext>
              </a:extLst>
            </p:cNvPr>
            <p:cNvSpPr/>
            <p:nvPr/>
          </p:nvSpPr>
          <p:spPr>
            <a:xfrm>
              <a:off x="208417" y="883755"/>
              <a:ext cx="330979" cy="353418"/>
            </a:xfrm>
            <a:prstGeom prst="smileyFace">
              <a:avLst/>
            </a:prstGeom>
            <a:solidFill>
              <a:srgbClr val="0070C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 sz="3200">
                <a:latin typeface="+mj-lt"/>
              </a:endParaRPr>
            </a:p>
          </p:txBody>
        </p: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D0B94440-066F-4333-A1FE-AA8D19253D46}"/>
                </a:ext>
              </a:extLst>
            </p:cNvPr>
            <p:cNvCxnSpPr>
              <a:stCxn id="17" idx="0"/>
              <a:endCxn id="15" idx="2"/>
            </p:cNvCxnSpPr>
            <p:nvPr/>
          </p:nvCxnSpPr>
          <p:spPr>
            <a:xfrm flipH="1" flipV="1">
              <a:off x="371427" y="483118"/>
              <a:ext cx="2480" cy="400637"/>
            </a:xfrm>
            <a:prstGeom prst="straightConnector1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C99B408E-FCC9-4D7B-BA66-50F8AC2F378C}"/>
                </a:ext>
              </a:extLst>
            </p:cNvPr>
            <p:cNvCxnSpPr>
              <a:stCxn id="17" idx="6"/>
              <a:endCxn id="13" idx="1"/>
            </p:cNvCxnSpPr>
            <p:nvPr/>
          </p:nvCxnSpPr>
          <p:spPr>
            <a:xfrm flipV="1">
              <a:off x="539396" y="1058722"/>
              <a:ext cx="549810" cy="1742"/>
            </a:xfrm>
            <a:prstGeom prst="straightConnector1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991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775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/>
              <a:t>Имя</a:t>
            </a:r>
            <a:r>
              <a:rPr lang="ru-RU"/>
              <a:t>: </a:t>
            </a:r>
            <a:r>
              <a:rPr lang="en-US"/>
              <a:t>TVar</a:t>
            </a:r>
            <a:endParaRPr lang="ru-RU"/>
          </a:p>
          <a:p>
            <a:endParaRPr lang="ru-RU"/>
          </a:p>
          <a:p>
            <a:r>
              <a:rPr lang="ru-RU" u="sng"/>
              <a:t>Назначение</a:t>
            </a:r>
            <a:r>
              <a:rPr lang="ru-RU"/>
              <a:t>:</a:t>
            </a:r>
            <a:r>
              <a:rPr lang="en-US"/>
              <a:t> </a:t>
            </a:r>
            <a:r>
              <a:rPr lang="ru-RU"/>
              <a:t>Класс переменной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55509" y="1317524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5F46E4-AB2C-4702-809F-C100C7EC8050}"/>
              </a:ext>
            </a:extLst>
          </p:cNvPr>
          <p:cNvSpPr txBox="1"/>
          <p:nvPr/>
        </p:nvSpPr>
        <p:spPr>
          <a:xfrm>
            <a:off x="1032389" y="2448232"/>
            <a:ext cx="3775585" cy="2534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Name		</a:t>
            </a:r>
            <a:r>
              <a:rPr lang="ru-RU"/>
              <a:t>Имя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Value</a:t>
            </a:r>
            <a:r>
              <a:rPr lang="ru-RU"/>
              <a:t>		Указатель на объект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VarType</a:t>
            </a:r>
            <a:r>
              <a:rPr lang="ru-RU"/>
              <a:t>		Тип переменной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TensorSize</a:t>
            </a:r>
            <a:r>
              <a:rPr lang="ru-RU"/>
              <a:t>	Число элементов 			по указателю</a:t>
            </a:r>
            <a:br>
              <a:rPr lang="en-US"/>
            </a:br>
            <a:r>
              <a:rPr lang="en-US"/>
              <a:t>Other</a:t>
            </a:r>
            <a:r>
              <a:rPr lang="ru-RU"/>
              <a:t>		Зарезервировано</a:t>
            </a: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ECC9BEA6-4F98-4D03-B9D9-6818669556DA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4807974" y="1956079"/>
            <a:ext cx="2256502" cy="1170579"/>
          </a:xfrm>
          <a:prstGeom prst="bentConnector3">
            <a:avLst>
              <a:gd name="adj1" fmla="val 28213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B51FFCC-2C9F-4A72-AB88-2131C5A1056A}"/>
              </a:ext>
            </a:extLst>
          </p:cNvPr>
          <p:cNvSpPr/>
          <p:nvPr/>
        </p:nvSpPr>
        <p:spPr>
          <a:xfrm>
            <a:off x="7064476" y="1694469"/>
            <a:ext cx="1651821" cy="5232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void *</a:t>
            </a:r>
            <a:endParaRPr lang="ru-RU" sz="2400">
              <a:solidFill>
                <a:schemeClr val="tx1"/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E37E0606-1146-478F-9474-033A03074D29}"/>
              </a:ext>
            </a:extLst>
          </p:cNvPr>
          <p:cNvSpPr/>
          <p:nvPr/>
        </p:nvSpPr>
        <p:spPr>
          <a:xfrm>
            <a:off x="6095999" y="2350663"/>
            <a:ext cx="3549446" cy="17493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FUNC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ARRAY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STRING</a:t>
            </a:r>
            <a:endParaRPr lang="ru-RU" b="1">
              <a:solidFill>
                <a:schemeClr val="tx1"/>
              </a:solidFill>
            </a:endParaRPr>
          </a:p>
        </p:txBody>
      </p: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2A05BC79-B66C-4B5F-B4FD-4C40C716B0D3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4807974" y="3225358"/>
            <a:ext cx="1288025" cy="295884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543A8EEC-B207-44F5-B772-37DB4D5C139E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4513006" y="4100052"/>
            <a:ext cx="1602657" cy="1185164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019D94A5-6B99-4899-AEE6-567FA724E7A3}"/>
              </a:ext>
            </a:extLst>
          </p:cNvPr>
          <p:cNvSpPr/>
          <p:nvPr/>
        </p:nvSpPr>
        <p:spPr>
          <a:xfrm>
            <a:off x="6115663" y="4410521"/>
            <a:ext cx="3549446" cy="17493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>
                <a:solidFill>
                  <a:schemeClr val="tx1"/>
                </a:solidFill>
              </a:rPr>
              <a:t>число </a:t>
            </a:r>
            <a:r>
              <a:rPr lang="en-US">
                <a:solidFill>
                  <a:schemeClr val="tx1"/>
                </a:solidFill>
              </a:rPr>
              <a:t>double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-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ru-RU" b="1">
                <a:solidFill>
                  <a:schemeClr val="tx1"/>
                </a:solidFill>
              </a:rPr>
              <a:t>1</a:t>
            </a:r>
            <a:endParaRPr lang="en-US" b="1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ru-RU">
                <a:solidFill>
                  <a:schemeClr val="tx1"/>
                </a:solidFill>
              </a:rPr>
              <a:t>старшая мерность массива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количество аргументов ф-ции</a:t>
            </a:r>
          </a:p>
        </p:txBody>
      </p:sp>
    </p:spTree>
    <p:extLst>
      <p:ext uri="{BB962C8B-B14F-4D97-AF65-F5344CB8AC3E}">
        <p14:creationId xmlns:p14="http://schemas.microsoft.com/office/powerpoint/2010/main" val="1400743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775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Хранение переменной</a:t>
            </a:r>
            <a:r>
              <a:rPr lang="en-US"/>
              <a:t>: </a:t>
            </a:r>
            <a:br>
              <a:rPr lang="en-US"/>
            </a:br>
            <a:r>
              <a:rPr lang="en-US"/>
              <a:t>double _Price = 1.0;</a:t>
            </a:r>
          </a:p>
          <a:p>
            <a:r>
              <a:rPr lang="en-US"/>
              <a:t>TVar * Price = ...</a:t>
            </a:r>
            <a:endParaRPr lang="ru-RU"/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55509" y="1317524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B51FFCC-2C9F-4A72-AB88-2131C5A1056A}"/>
              </a:ext>
            </a:extLst>
          </p:cNvPr>
          <p:cNvSpPr/>
          <p:nvPr/>
        </p:nvSpPr>
        <p:spPr>
          <a:xfrm>
            <a:off x="235970" y="5307564"/>
            <a:ext cx="4414688" cy="1466862"/>
          </a:xfrm>
          <a:prstGeom prst="roundRect">
            <a:avLst/>
          </a:prstGeom>
          <a:pattFill prst="pct5">
            <a:fgClr>
              <a:schemeClr val="accent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Name = ‘MyPrice’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VarType = 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void* Value  -&gt; (double*)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C02F994-FC95-43BC-9A91-380F428F7762}"/>
              </a:ext>
            </a:extLst>
          </p:cNvPr>
          <p:cNvCxnSpPr>
            <a:cxnSpLocks/>
          </p:cNvCxnSpPr>
          <p:nvPr/>
        </p:nvCxnSpPr>
        <p:spPr>
          <a:xfrm>
            <a:off x="3824748" y="6469524"/>
            <a:ext cx="13888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F47B8988-5D05-491A-838E-FEE2BBC54BDC}"/>
              </a:ext>
            </a:extLst>
          </p:cNvPr>
          <p:cNvSpPr/>
          <p:nvPr/>
        </p:nvSpPr>
        <p:spPr>
          <a:xfrm>
            <a:off x="5213558" y="6190700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1.0</a:t>
            </a:r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52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7755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Хранение массива </a:t>
            </a:r>
            <a:r>
              <a:rPr lang="en-US"/>
              <a:t>1D: </a:t>
            </a:r>
            <a:br>
              <a:rPr lang="en-US"/>
            </a:br>
            <a:r>
              <a:rPr lang="en-US"/>
              <a:t>double Arr[3] = </a:t>
            </a:r>
          </a:p>
          <a:p>
            <a:r>
              <a:rPr lang="en-US"/>
              <a:t>{</a:t>
            </a:r>
          </a:p>
          <a:p>
            <a:r>
              <a:rPr lang="en-US"/>
              <a:t>	1,2,3</a:t>
            </a:r>
          </a:p>
          <a:p>
            <a:r>
              <a:rPr lang="en-US"/>
              <a:t>}</a:t>
            </a:r>
            <a:endParaRPr lang="ru-RU"/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55509" y="1317524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B51FFCC-2C9F-4A72-AB88-2131C5A1056A}"/>
              </a:ext>
            </a:extLst>
          </p:cNvPr>
          <p:cNvSpPr/>
          <p:nvPr/>
        </p:nvSpPr>
        <p:spPr>
          <a:xfrm>
            <a:off x="235970" y="5307564"/>
            <a:ext cx="4414688" cy="1466862"/>
          </a:xfrm>
          <a:prstGeom prst="roundRect">
            <a:avLst/>
          </a:prstGeom>
          <a:pattFill prst="pct5">
            <a:fgClr>
              <a:schemeClr val="accent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Name = ‘Arr’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VarType = EVAR_TYPE_</a:t>
            </a:r>
            <a:r>
              <a:rPr lang="en-US" b="1">
                <a:solidFill>
                  <a:schemeClr val="tx1"/>
                </a:solidFill>
              </a:rPr>
              <a:t>ARRAY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3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Value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69FE9B6-F7B0-4812-8ED7-A75CAEFBD4C0}"/>
              </a:ext>
            </a:extLst>
          </p:cNvPr>
          <p:cNvSpPr/>
          <p:nvPr/>
        </p:nvSpPr>
        <p:spPr>
          <a:xfrm>
            <a:off x="5046407" y="982347"/>
            <a:ext cx="2534264" cy="827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5E3A2F46-5879-42BA-94C1-CAB7B95EC4A6}"/>
              </a:ext>
            </a:extLst>
          </p:cNvPr>
          <p:cNvSpPr/>
          <p:nvPr/>
        </p:nvSpPr>
        <p:spPr>
          <a:xfrm>
            <a:off x="5068524" y="1949559"/>
            <a:ext cx="2534264" cy="827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AFF94824-05F6-4E70-A242-1BCC55DC5267}"/>
              </a:ext>
            </a:extLst>
          </p:cNvPr>
          <p:cNvSpPr/>
          <p:nvPr/>
        </p:nvSpPr>
        <p:spPr>
          <a:xfrm>
            <a:off x="5068524" y="2916474"/>
            <a:ext cx="2534264" cy="827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B175464-A504-43A4-AB57-A26347406FFF}"/>
              </a:ext>
            </a:extLst>
          </p:cNvPr>
          <p:cNvSpPr/>
          <p:nvPr/>
        </p:nvSpPr>
        <p:spPr>
          <a:xfrm rot="5400000">
            <a:off x="2947789" y="2256134"/>
            <a:ext cx="2648653" cy="33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TVar0*, TVar1*, TVar2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3D09BDCC-A2CA-44BD-B9D0-3F3AFB12530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4439264" y="1396188"/>
            <a:ext cx="607143" cy="9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266B3DC-3E54-46D0-B915-018D811A0D6E}"/>
              </a:ext>
            </a:extLst>
          </p:cNvPr>
          <p:cNvCxnSpPr>
            <a:cxnSpLocks/>
          </p:cNvCxnSpPr>
          <p:nvPr/>
        </p:nvCxnSpPr>
        <p:spPr>
          <a:xfrm flipV="1">
            <a:off x="4458930" y="2336750"/>
            <a:ext cx="607143" cy="9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4FB858EC-72F2-4174-A515-ACF0EF7EA289}"/>
              </a:ext>
            </a:extLst>
          </p:cNvPr>
          <p:cNvCxnSpPr>
            <a:cxnSpLocks/>
          </p:cNvCxnSpPr>
          <p:nvPr/>
        </p:nvCxnSpPr>
        <p:spPr>
          <a:xfrm flipV="1">
            <a:off x="4458930" y="3301582"/>
            <a:ext cx="607143" cy="9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C02F994-FC95-43BC-9A91-380F428F7762}"/>
              </a:ext>
            </a:extLst>
          </p:cNvPr>
          <p:cNvCxnSpPr>
            <a:cxnSpLocks/>
          </p:cNvCxnSpPr>
          <p:nvPr/>
        </p:nvCxnSpPr>
        <p:spPr>
          <a:xfrm>
            <a:off x="6709900" y="1140441"/>
            <a:ext cx="1128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F47B8988-5D05-491A-838E-FEE2BBC54BDC}"/>
              </a:ext>
            </a:extLst>
          </p:cNvPr>
          <p:cNvSpPr/>
          <p:nvPr/>
        </p:nvSpPr>
        <p:spPr>
          <a:xfrm>
            <a:off x="7838771" y="861617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1.0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32E22B95-44B5-4063-AF37-31AC7980E734}"/>
              </a:ext>
            </a:extLst>
          </p:cNvPr>
          <p:cNvCxnSpPr>
            <a:cxnSpLocks/>
          </p:cNvCxnSpPr>
          <p:nvPr/>
        </p:nvCxnSpPr>
        <p:spPr>
          <a:xfrm>
            <a:off x="6709900" y="2113837"/>
            <a:ext cx="1128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1C0B1F7-809F-4927-9C9D-A481EBA71EBA}"/>
              </a:ext>
            </a:extLst>
          </p:cNvPr>
          <p:cNvSpPr/>
          <p:nvPr/>
        </p:nvSpPr>
        <p:spPr>
          <a:xfrm>
            <a:off x="7838771" y="1835013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2.0</a:t>
            </a:r>
            <a:endParaRPr lang="ru-RU" sz="1600">
              <a:solidFill>
                <a:schemeClr val="tx1"/>
              </a:solidFill>
            </a:endParaRP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E9532A5F-E700-4678-BDB5-07BDC8A76A67}"/>
              </a:ext>
            </a:extLst>
          </p:cNvPr>
          <p:cNvCxnSpPr>
            <a:cxnSpLocks/>
          </p:cNvCxnSpPr>
          <p:nvPr/>
        </p:nvCxnSpPr>
        <p:spPr>
          <a:xfrm>
            <a:off x="6709900" y="3080901"/>
            <a:ext cx="1128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12267FE-07B0-4EDC-BAFF-BB7C02B52B91}"/>
              </a:ext>
            </a:extLst>
          </p:cNvPr>
          <p:cNvSpPr/>
          <p:nvPr/>
        </p:nvSpPr>
        <p:spPr>
          <a:xfrm>
            <a:off x="7838771" y="2802077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3.0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549C8F81-337A-4491-BA33-4FE60E9C09A0}"/>
              </a:ext>
            </a:extLst>
          </p:cNvPr>
          <p:cNvCxnSpPr>
            <a:cxnSpLocks/>
          </p:cNvCxnSpPr>
          <p:nvPr/>
        </p:nvCxnSpPr>
        <p:spPr>
          <a:xfrm flipV="1">
            <a:off x="2900515" y="6449961"/>
            <a:ext cx="1418304" cy="294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40031E69-16F6-4EB8-AB36-0109F085D144}"/>
              </a:ext>
            </a:extLst>
          </p:cNvPr>
          <p:cNvCxnSpPr>
            <a:cxnSpLocks/>
            <a:endCxn id="30" idx="3"/>
          </p:cNvCxnSpPr>
          <p:nvPr/>
        </p:nvCxnSpPr>
        <p:spPr>
          <a:xfrm flipH="1" flipV="1">
            <a:off x="4272116" y="3747609"/>
            <a:ext cx="46703" cy="27023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1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775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Хранение массива 2</a:t>
            </a:r>
            <a:r>
              <a:rPr lang="en-US"/>
              <a:t>D: </a:t>
            </a:r>
            <a:br>
              <a:rPr lang="en-US"/>
            </a:br>
            <a:r>
              <a:rPr lang="en-US"/>
              <a:t>double Arr[2][3] = </a:t>
            </a:r>
          </a:p>
          <a:p>
            <a:r>
              <a:rPr lang="en-US"/>
              <a:t>{</a:t>
            </a:r>
          </a:p>
          <a:p>
            <a:r>
              <a:rPr lang="en-US"/>
              <a:t>	{1,2,3},</a:t>
            </a:r>
          </a:p>
          <a:p>
            <a:r>
              <a:rPr lang="en-US"/>
              <a:t>	{4,5,6}</a:t>
            </a:r>
          </a:p>
          <a:p>
            <a:r>
              <a:rPr lang="en-US"/>
              <a:t>}</a:t>
            </a:r>
            <a:endParaRPr lang="ru-RU"/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55509" y="1317524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B51FFCC-2C9F-4A72-AB88-2131C5A1056A}"/>
              </a:ext>
            </a:extLst>
          </p:cNvPr>
          <p:cNvSpPr/>
          <p:nvPr/>
        </p:nvSpPr>
        <p:spPr>
          <a:xfrm>
            <a:off x="235970" y="5307564"/>
            <a:ext cx="4414688" cy="1466862"/>
          </a:xfrm>
          <a:prstGeom prst="roundRect">
            <a:avLst/>
          </a:prstGeom>
          <a:pattFill prst="pct5">
            <a:fgClr>
              <a:schemeClr val="accent1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Name = ‘Arr’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VarType = EVAR_TYPE_</a:t>
            </a:r>
            <a:r>
              <a:rPr lang="en-US" b="1">
                <a:solidFill>
                  <a:schemeClr val="tx1"/>
                </a:solidFill>
              </a:rPr>
              <a:t>ARRAY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2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Value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AAEA04-51D0-41E6-9601-EB09D5404F25}"/>
              </a:ext>
            </a:extLst>
          </p:cNvPr>
          <p:cNvSpPr/>
          <p:nvPr/>
        </p:nvSpPr>
        <p:spPr>
          <a:xfrm>
            <a:off x="5589636" y="6371256"/>
            <a:ext cx="2133600" cy="33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TVar0*, TVar1*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360043A-7905-4157-BD0F-17DBD26C8FD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797275" y="6449914"/>
            <a:ext cx="2792361" cy="88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F97ECB-2DAC-4ABD-AFF1-6AAF17795BE6}"/>
              </a:ext>
            </a:extLst>
          </p:cNvPr>
          <p:cNvSpPr/>
          <p:nvPr/>
        </p:nvSpPr>
        <p:spPr>
          <a:xfrm>
            <a:off x="2566222" y="4003748"/>
            <a:ext cx="3401966" cy="10442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ARRAY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3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A790109-1D0C-47AA-A33B-28234DD209AD}"/>
              </a:ext>
            </a:extLst>
          </p:cNvPr>
          <p:cNvSpPr/>
          <p:nvPr/>
        </p:nvSpPr>
        <p:spPr>
          <a:xfrm>
            <a:off x="6223812" y="4027319"/>
            <a:ext cx="3401966" cy="104422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ARRAY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3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B5D9F22-6162-467C-909D-00D17AD81033}"/>
              </a:ext>
            </a:extLst>
          </p:cNvPr>
          <p:cNvCxnSpPr>
            <a:endCxn id="18" idx="2"/>
          </p:cNvCxnSpPr>
          <p:nvPr/>
        </p:nvCxnSpPr>
        <p:spPr>
          <a:xfrm flipH="1" flipV="1">
            <a:off x="4267205" y="5047971"/>
            <a:ext cx="1838626" cy="13232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38648EDF-B434-490A-AF97-909F928D82ED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7211963" y="5071542"/>
            <a:ext cx="712832" cy="1299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69FE9B6-F7B0-4812-8ED7-A75CAEFBD4C0}"/>
              </a:ext>
            </a:extLst>
          </p:cNvPr>
          <p:cNvSpPr/>
          <p:nvPr/>
        </p:nvSpPr>
        <p:spPr>
          <a:xfrm>
            <a:off x="5046407" y="982347"/>
            <a:ext cx="2534264" cy="827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5E3A2F46-5879-42BA-94C1-CAB7B95EC4A6}"/>
              </a:ext>
            </a:extLst>
          </p:cNvPr>
          <p:cNvSpPr/>
          <p:nvPr/>
        </p:nvSpPr>
        <p:spPr>
          <a:xfrm>
            <a:off x="5068524" y="1949559"/>
            <a:ext cx="2534264" cy="827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AFF94824-05F6-4E70-A242-1BCC55DC5267}"/>
              </a:ext>
            </a:extLst>
          </p:cNvPr>
          <p:cNvSpPr/>
          <p:nvPr/>
        </p:nvSpPr>
        <p:spPr>
          <a:xfrm>
            <a:off x="5068524" y="2916474"/>
            <a:ext cx="2534264" cy="8276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EVAR_TYPE_</a:t>
            </a:r>
            <a:r>
              <a:rPr lang="en-US" b="1">
                <a:solidFill>
                  <a:schemeClr val="tx1"/>
                </a:solidFill>
              </a:rPr>
              <a:t>DOUBLE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TensorSize = 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B175464-A504-43A4-AB57-A26347406FFF}"/>
              </a:ext>
            </a:extLst>
          </p:cNvPr>
          <p:cNvSpPr/>
          <p:nvPr/>
        </p:nvSpPr>
        <p:spPr>
          <a:xfrm rot="5400000">
            <a:off x="2947789" y="2256134"/>
            <a:ext cx="2648653" cy="33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TVar0*, TVar1*, TVar2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9F3DF31-9C30-4A43-8CC9-0DCAE9FDAAA4}"/>
              </a:ext>
            </a:extLst>
          </p:cNvPr>
          <p:cNvCxnSpPr>
            <a:cxnSpLocks/>
            <a:endCxn id="30" idx="3"/>
          </p:cNvCxnSpPr>
          <p:nvPr/>
        </p:nvCxnSpPr>
        <p:spPr>
          <a:xfrm flipH="1" flipV="1">
            <a:off x="4272116" y="3747609"/>
            <a:ext cx="93407" cy="4436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3D09BDCC-A2CA-44BD-B9D0-3F3AFB12530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4439264" y="1396188"/>
            <a:ext cx="607143" cy="9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266B3DC-3E54-46D0-B915-018D811A0D6E}"/>
              </a:ext>
            </a:extLst>
          </p:cNvPr>
          <p:cNvCxnSpPr>
            <a:cxnSpLocks/>
          </p:cNvCxnSpPr>
          <p:nvPr/>
        </p:nvCxnSpPr>
        <p:spPr>
          <a:xfrm flipV="1">
            <a:off x="4458930" y="2336750"/>
            <a:ext cx="607143" cy="9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4FB858EC-72F2-4174-A515-ACF0EF7EA289}"/>
              </a:ext>
            </a:extLst>
          </p:cNvPr>
          <p:cNvCxnSpPr>
            <a:cxnSpLocks/>
          </p:cNvCxnSpPr>
          <p:nvPr/>
        </p:nvCxnSpPr>
        <p:spPr>
          <a:xfrm flipV="1">
            <a:off x="4458930" y="3301582"/>
            <a:ext cx="607143" cy="98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C02F994-FC95-43BC-9A91-380F428F7762}"/>
              </a:ext>
            </a:extLst>
          </p:cNvPr>
          <p:cNvCxnSpPr>
            <a:cxnSpLocks/>
          </p:cNvCxnSpPr>
          <p:nvPr/>
        </p:nvCxnSpPr>
        <p:spPr>
          <a:xfrm>
            <a:off x="6709900" y="1140441"/>
            <a:ext cx="1128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F47B8988-5D05-491A-838E-FEE2BBC54BDC}"/>
              </a:ext>
            </a:extLst>
          </p:cNvPr>
          <p:cNvSpPr/>
          <p:nvPr/>
        </p:nvSpPr>
        <p:spPr>
          <a:xfrm>
            <a:off x="7838771" y="861617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1.0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32E22B95-44B5-4063-AF37-31AC7980E734}"/>
              </a:ext>
            </a:extLst>
          </p:cNvPr>
          <p:cNvCxnSpPr>
            <a:cxnSpLocks/>
          </p:cNvCxnSpPr>
          <p:nvPr/>
        </p:nvCxnSpPr>
        <p:spPr>
          <a:xfrm>
            <a:off x="6709900" y="2113837"/>
            <a:ext cx="1128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1C0B1F7-809F-4927-9C9D-A481EBA71EBA}"/>
              </a:ext>
            </a:extLst>
          </p:cNvPr>
          <p:cNvSpPr/>
          <p:nvPr/>
        </p:nvSpPr>
        <p:spPr>
          <a:xfrm>
            <a:off x="7838771" y="1835013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2.0</a:t>
            </a:r>
            <a:endParaRPr lang="ru-RU" sz="1600">
              <a:solidFill>
                <a:schemeClr val="tx1"/>
              </a:solidFill>
            </a:endParaRP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E9532A5F-E700-4678-BDB5-07BDC8A76A67}"/>
              </a:ext>
            </a:extLst>
          </p:cNvPr>
          <p:cNvCxnSpPr>
            <a:cxnSpLocks/>
          </p:cNvCxnSpPr>
          <p:nvPr/>
        </p:nvCxnSpPr>
        <p:spPr>
          <a:xfrm>
            <a:off x="6709900" y="3080901"/>
            <a:ext cx="1128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12267FE-07B0-4EDC-BAFF-BB7C02B52B91}"/>
              </a:ext>
            </a:extLst>
          </p:cNvPr>
          <p:cNvSpPr/>
          <p:nvPr/>
        </p:nvSpPr>
        <p:spPr>
          <a:xfrm>
            <a:off x="7838771" y="2802077"/>
            <a:ext cx="734958" cy="5157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3.0</a:t>
            </a:r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39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5427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/>
              <a:t>Имя</a:t>
            </a:r>
            <a:r>
              <a:rPr lang="ru-RU"/>
              <a:t>: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TTableVars</a:t>
            </a:r>
            <a:endParaRPr lang="ru-RU"/>
          </a:p>
          <a:p>
            <a:r>
              <a:rPr lang="ru-RU" u="sng"/>
              <a:t>Назначение</a:t>
            </a:r>
            <a:r>
              <a:rPr lang="ru-RU"/>
              <a:t>:</a:t>
            </a:r>
            <a:r>
              <a:rPr lang="en-US"/>
              <a:t> </a:t>
            </a:r>
            <a:r>
              <a:rPr lang="ru-RU"/>
              <a:t>Класс хранилища переменных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55509" y="1720649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DECB6-65A7-43EC-BA0B-A7469220CED0}"/>
              </a:ext>
            </a:extLst>
          </p:cNvPr>
          <p:cNvSpPr txBox="1"/>
          <p:nvPr/>
        </p:nvSpPr>
        <p:spPr>
          <a:xfrm>
            <a:off x="779205" y="2796710"/>
            <a:ext cx="86892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Search(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AddFunc(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_paramsCount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Address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ShowTable()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ShowVar(</a:t>
            </a:r>
            <a:r>
              <a:rPr lang="sv-SE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sv-SE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sv-SE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12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5899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/>
              <a:t>Имя</a:t>
            </a:r>
            <a:r>
              <a:rPr lang="ru-RU"/>
              <a:t>: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TSettings</a:t>
            </a:r>
            <a:endParaRPr lang="ru-RU"/>
          </a:p>
          <a:p>
            <a:r>
              <a:rPr lang="ru-RU" u="sng"/>
              <a:t>Назначение</a:t>
            </a:r>
            <a:r>
              <a:rPr lang="ru-RU"/>
              <a:t>:</a:t>
            </a:r>
            <a:r>
              <a:rPr lang="en-US"/>
              <a:t> </a:t>
            </a:r>
            <a:r>
              <a:rPr lang="ru-RU"/>
              <a:t>Класс хранилища подгружаемых функций в библиотеках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55509" y="2133605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1E267-07BF-404B-A18F-B979D6BA75B7}"/>
              </a:ext>
            </a:extLst>
          </p:cNvPr>
          <p:cNvSpPr txBox="1"/>
          <p:nvPr/>
        </p:nvSpPr>
        <p:spPr>
          <a:xfrm>
            <a:off x="739877" y="4538490"/>
            <a:ext cx="83156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typedef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(*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ModuleFuncType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)();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TSettings_Record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AliasName;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Name in Studio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ParamCount;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ModuleFileName;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FunctionName;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Name in dll file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98024-565E-4EB9-9222-DF697EBF756C}"/>
              </a:ext>
            </a:extLst>
          </p:cNvPr>
          <p:cNvSpPr txBox="1"/>
          <p:nvPr/>
        </p:nvSpPr>
        <p:spPr>
          <a:xfrm>
            <a:off x="511277" y="2579174"/>
            <a:ext cx="8640097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[AliasName] [paramCount] [ModuleFileName.dll] [FunctionName]</a:t>
            </a:r>
            <a:endParaRPr lang="ru-RU" sz="1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записи</a:t>
            </a: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файла</a:t>
            </a: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u="sng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Settings.ini</a:t>
            </a: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sz="1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Math.Statistic.Criteria.Hi_square 6 statistic.dll PirsonFunc</a:t>
            </a:r>
            <a:endParaRPr lang="ru-RU" sz="1800" b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043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5899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Из</a:t>
            </a:r>
            <a:r>
              <a:rPr lang="en-US"/>
              <a:t> </a:t>
            </a:r>
            <a:r>
              <a:rPr lang="ru-RU"/>
              <a:t>библиотеки вывод в консоль </a:t>
            </a:r>
            <a:r>
              <a:rPr lang="en-US"/>
              <a:t>Science Studio</a:t>
            </a:r>
            <a:r>
              <a:rPr lang="ru-RU"/>
              <a:t> идет через именованный канал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\\.\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ipe\ScienceStudio</a:t>
            </a:r>
            <a:endParaRPr lang="ru-RU"/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45677" y="2576448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009EF-0278-4757-8D53-4C435CAAAB44}"/>
              </a:ext>
            </a:extLst>
          </p:cNvPr>
          <p:cNvSpPr txBox="1"/>
          <p:nvPr/>
        </p:nvSpPr>
        <p:spPr>
          <a:xfrm>
            <a:off x="1012723" y="2880356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Exchange.ConsolePrint(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 World"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03CE68-EE7D-4EF3-95AE-1FBB55CCFE7E}"/>
              </a:ext>
            </a:extLst>
          </p:cNvPr>
          <p:cNvSpPr txBox="1"/>
          <p:nvPr/>
        </p:nvSpPr>
        <p:spPr>
          <a:xfrm>
            <a:off x="1084006" y="4581436"/>
            <a:ext cx="69882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ConsolePrint(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_message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ConsolePrint(</a:t>
            </a:r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fr-FR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_message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ConsoleOutput(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_buffer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uint16_t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_size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85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D4AD2-6E56-47C0-9949-5E3D842ECDB6}"/>
              </a:ext>
            </a:extLst>
          </p:cNvPr>
          <p:cNvSpPr txBox="1"/>
          <p:nvPr/>
        </p:nvSpPr>
        <p:spPr>
          <a:xfrm>
            <a:off x="9940413" y="1130710"/>
            <a:ext cx="204511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TVar</a:t>
            </a:r>
            <a:br>
              <a:rPr lang="en-US"/>
            </a:br>
            <a:r>
              <a:rPr lang="en-US"/>
              <a:t>Table</a:t>
            </a:r>
          </a:p>
          <a:p>
            <a:pPr>
              <a:lnSpc>
                <a:spcPct val="150000"/>
              </a:lnSpc>
            </a:pPr>
            <a:r>
              <a:rPr lang="en-US"/>
              <a:t>Settings</a:t>
            </a:r>
            <a:br>
              <a:rPr lang="en-US"/>
            </a:br>
            <a:r>
              <a:rPr lang="en-US"/>
              <a:t>Console</a:t>
            </a:r>
            <a:br>
              <a:rPr lang="en-US"/>
            </a:br>
            <a:r>
              <a:rPr lang="en-US"/>
              <a:t>FuncArgs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589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/>
              <a:t>Передача</a:t>
            </a:r>
            <a:r>
              <a:rPr lang="ru-RU"/>
              <a:t> параметров в библиотеку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5E16C8A9-DEE5-4867-B90A-852D19BD696E}"/>
              </a:ext>
            </a:extLst>
          </p:cNvPr>
          <p:cNvSpPr/>
          <p:nvPr/>
        </p:nvSpPr>
        <p:spPr>
          <a:xfrm>
            <a:off x="9045677" y="2979571"/>
            <a:ext cx="865238" cy="17698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16F394-0B0E-4945-A70D-33E9F42A5C43}"/>
              </a:ext>
            </a:extLst>
          </p:cNvPr>
          <p:cNvSpPr txBox="1"/>
          <p:nvPr/>
        </p:nvSpPr>
        <p:spPr>
          <a:xfrm>
            <a:off x="1012723" y="1956223"/>
            <a:ext cx="6100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TArguments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argc;</a:t>
            </a:r>
          </a:p>
          <a:p>
            <a:r>
              <a:rPr lang="ru-RU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** argv;</a:t>
            </a: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52ACE1-F662-4C88-8D93-37D2C50F5834}"/>
              </a:ext>
            </a:extLst>
          </p:cNvPr>
          <p:cNvSpPr txBox="1"/>
          <p:nvPr/>
        </p:nvSpPr>
        <p:spPr>
          <a:xfrm>
            <a:off x="1012723" y="3429000"/>
            <a:ext cx="589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/>
              <a:t>Приём</a:t>
            </a:r>
            <a:r>
              <a:rPr lang="ru-RU"/>
              <a:t> параметров в библиотеке: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B441E-A85C-4615-81EB-25DDB1132E6B}"/>
              </a:ext>
            </a:extLst>
          </p:cNvPr>
          <p:cNvSpPr txBox="1"/>
          <p:nvPr/>
        </p:nvSpPr>
        <p:spPr>
          <a:xfrm>
            <a:off x="784123" y="3968452"/>
            <a:ext cx="9638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extern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sv-SE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"C"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sv-SE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_declspec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sv-SE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dllexport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sv-SE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sv-SE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sum() {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Exchange.ConsolePrint(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 World"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 = 0;    </a:t>
            </a:r>
          </a:p>
          <a:p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Exchange.GetParamCount(); i++) {</a:t>
            </a: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 += Exchange.GetParamAsDouble(i);</a:t>
            </a: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Exchange.ReturnDoubleResult(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"sum"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s);</a:t>
            </a: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29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4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Класс </a:t>
            </a:r>
            <a:r>
              <a:rPr lang="en-US"/>
              <a:t>Exchange </a:t>
            </a:r>
            <a:r>
              <a:rPr lang="ru-RU"/>
              <a:t>в библиотеке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E2D06-F209-4B9F-B49D-E16BB290883F}"/>
              </a:ext>
            </a:extLst>
          </p:cNvPr>
          <p:cNvSpPr txBox="1"/>
          <p:nvPr/>
        </p:nvSpPr>
        <p:spPr>
          <a:xfrm>
            <a:off x="1012723" y="2001487"/>
            <a:ext cx="11277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SCISTUDIO_Exchange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ReceiveParam(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_param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Params received from Studio in function call */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GetParamCount()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GetArgumet(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ConsolePrint(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_message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ConsolePrint(</a:t>
            </a:r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fr-FR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_message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ConsoleOutput(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_buffer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uint16_t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_size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180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Array1D</a:t>
            </a:r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_arr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uint16_t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_size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Array2D</a:t>
            </a:r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_arr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uint16_t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uint16_t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180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TVar</a:t>
            </a:r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Array1D(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_array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** TVar</a:t>
            </a:r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Array2D(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_array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16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4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Класс </a:t>
            </a:r>
            <a:r>
              <a:rPr lang="en-US"/>
              <a:t>Context</a:t>
            </a:r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90F00-52CC-4ED7-88FC-912F34A03757}"/>
              </a:ext>
            </a:extLst>
          </p:cNvPr>
          <p:cNvSpPr txBox="1"/>
          <p:nvPr/>
        </p:nvSpPr>
        <p:spPr>
          <a:xfrm>
            <a:off x="1012723" y="1765513"/>
            <a:ext cx="106581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TContext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GL_surface;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//for plot and 3D modeling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FileName;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//result output file or console if Filename is NULL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Vars;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Variable list with values, search methods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Arguments;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//console arguments for parsing and function call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Settings; 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list of loaded modules and other settins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19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1A31E-04D3-4011-AC71-C5B18840D49B}"/>
              </a:ext>
            </a:extLst>
          </p:cNvPr>
          <p:cNvSpPr txBox="1"/>
          <p:nvPr/>
        </p:nvSpPr>
        <p:spPr>
          <a:xfrm>
            <a:off x="2300748" y="319596"/>
            <a:ext cx="7610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/>
              <a:t>Структуры данных</a:t>
            </a:r>
            <a:r>
              <a:rPr lang="en-US" sz="2800"/>
              <a:t> </a:t>
            </a:r>
            <a:r>
              <a:rPr lang="ru-RU" sz="2800"/>
              <a:t>и элементы архитектуры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6A9A4-3C56-4773-B97F-7165C93E558A}"/>
              </a:ext>
            </a:extLst>
          </p:cNvPr>
          <p:cNvSpPr txBox="1"/>
          <p:nvPr/>
        </p:nvSpPr>
        <p:spPr>
          <a:xfrm>
            <a:off x="1012723" y="1396181"/>
            <a:ext cx="34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Класс </a:t>
            </a:r>
            <a:r>
              <a:rPr lang="en-US"/>
              <a:t>Interface</a:t>
            </a:r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F60F3-552A-4F70-AED7-7B86B5A9A124}"/>
              </a:ext>
            </a:extLst>
          </p:cNvPr>
          <p:cNvSpPr txBox="1"/>
          <p:nvPr/>
        </p:nvSpPr>
        <p:spPr>
          <a:xfrm>
            <a:off x="934065" y="1845183"/>
            <a:ext cx="110219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extern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__declspec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dllexport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GetParam(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_paramName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if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(!strcmp(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_paramName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"Arguments"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*)Context.Arguments;</a:t>
            </a: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...</a:t>
            </a:r>
            <a:b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66E7D-0CA8-4C16-A35F-A13B5897F58E}"/>
              </a:ext>
            </a:extLst>
          </p:cNvPr>
          <p:cNvSpPr txBox="1"/>
          <p:nvPr/>
        </p:nvSpPr>
        <p:spPr>
          <a:xfrm>
            <a:off x="1012723" y="3775587"/>
            <a:ext cx="34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В библиотеке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F84EB-AC76-4F41-A368-0691C63E7124}"/>
              </a:ext>
            </a:extLst>
          </p:cNvPr>
          <p:cNvSpPr txBox="1"/>
          <p:nvPr/>
        </p:nvSpPr>
        <p:spPr>
          <a:xfrm>
            <a:off x="934065" y="4144919"/>
            <a:ext cx="996990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SCISTUDIO_Exchange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::ReceiveParam(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_param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ru-RU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HMODULE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hExe = </a:t>
            </a:r>
            <a:r>
              <a:rPr lang="en-US" sz="180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GetModuleHandle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(hExe != </a:t>
            </a:r>
            <a:r>
              <a:rPr lang="en-US" sz="180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ru-RU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TGetParam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GetParam = (</a:t>
            </a:r>
            <a:r>
              <a:rPr lang="en-US" sz="18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TGetParam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)GetProcAddress(hExe,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"GetParam"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(GetParam != </a:t>
            </a:r>
            <a:r>
              <a:rPr lang="en-US" sz="180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ru-RU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GetParam((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*)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_param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}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...</a:t>
            </a:r>
            <a:endParaRPr lang="ru-RU" sz="18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28660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1120</Words>
  <Application>Microsoft Office PowerPoint</Application>
  <PresentationFormat>Широкоэкранный</PresentationFormat>
  <Paragraphs>197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Calibri</vt:lpstr>
      <vt:lpstr>Cascadia Mono</vt:lpstr>
      <vt:lpstr>Courier New</vt:lpstr>
      <vt:lpstr>Symbol</vt:lpstr>
      <vt:lpstr>Times New Roman</vt:lpstr>
      <vt:lpstr>Trebuchet MS</vt:lpstr>
      <vt:lpstr>Wingdings 3</vt:lpstr>
      <vt:lpstr>Аспект</vt:lpstr>
      <vt:lpstr>Sciense Studio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Sciense Studio</dc:title>
  <dc:creator>Иван Нечта</dc:creator>
  <cp:lastModifiedBy>Иван Нечта</cp:lastModifiedBy>
  <cp:revision>84</cp:revision>
  <dcterms:created xsi:type="dcterms:W3CDTF">2026-02-08T15:07:54Z</dcterms:created>
  <dcterms:modified xsi:type="dcterms:W3CDTF">2026-02-08T16:53:15Z</dcterms:modified>
</cp:coreProperties>
</file>